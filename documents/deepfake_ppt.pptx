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6"/>
  </p:notesMasterIdLst>
  <p:sldIdLst>
    <p:sldId id="281" r:id="rId2"/>
    <p:sldId id="257" r:id="rId3"/>
    <p:sldId id="258" r:id="rId4"/>
    <p:sldId id="268" r:id="rId5"/>
    <p:sldId id="277" r:id="rId6"/>
    <p:sldId id="259" r:id="rId7"/>
    <p:sldId id="270" r:id="rId8"/>
    <p:sldId id="269" r:id="rId9"/>
    <p:sldId id="260" r:id="rId10"/>
    <p:sldId id="262" r:id="rId11"/>
    <p:sldId id="271" r:id="rId12"/>
    <p:sldId id="261" r:id="rId13"/>
    <p:sldId id="272" r:id="rId14"/>
    <p:sldId id="266" r:id="rId15"/>
    <p:sldId id="274" r:id="rId16"/>
    <p:sldId id="267" r:id="rId17"/>
    <p:sldId id="263" r:id="rId18"/>
    <p:sldId id="273" r:id="rId19"/>
    <p:sldId id="278" r:id="rId20"/>
    <p:sldId id="279" r:id="rId21"/>
    <p:sldId id="275" r:id="rId22"/>
    <p:sldId id="280" r:id="rId23"/>
    <p:sldId id="276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7" autoAdjust="0"/>
    <p:restoredTop sz="94334" autoAdjust="0"/>
  </p:normalViewPr>
  <p:slideViewPr>
    <p:cSldViewPr snapToGrid="0">
      <p:cViewPr varScale="1">
        <p:scale>
          <a:sx n="90" d="100"/>
          <a:sy n="90" d="100"/>
        </p:scale>
        <p:origin x="9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dur Gupta" userId="6e59df6a239d9ed8" providerId="LiveId" clId="{50C86FF5-B893-4D69-98A4-6541E87D3404}"/>
    <pc:docChg chg="modSld">
      <pc:chgData name="Vidur Gupta" userId="6e59df6a239d9ed8" providerId="LiveId" clId="{50C86FF5-B893-4D69-98A4-6541E87D3404}" dt="2026-08-18T19:48:10.137" v="0" actId="20577"/>
      <pc:docMkLst>
        <pc:docMk/>
      </pc:docMkLst>
      <pc:sldChg chg="modSp mod">
        <pc:chgData name="Vidur Gupta" userId="6e59df6a239d9ed8" providerId="LiveId" clId="{50C86FF5-B893-4D69-98A4-6541E87D3404}" dt="2026-08-18T19:48:10.137" v="0" actId="20577"/>
        <pc:sldMkLst>
          <pc:docMk/>
          <pc:sldMk cId="2724917500" sldId="263"/>
        </pc:sldMkLst>
        <pc:spChg chg="mod">
          <ac:chgData name="Vidur Gupta" userId="6e59df6a239d9ed8" providerId="LiveId" clId="{50C86FF5-B893-4D69-98A4-6541E87D3404}" dt="2026-08-18T19:48:10.137" v="0" actId="20577"/>
          <ac:spMkLst>
            <pc:docMk/>
            <pc:sldMk cId="2724917500" sldId="263"/>
            <ac:spMk id="5" creationId="{F3FAA615-01EB-CBF4-836C-7949D1133B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65CE9-2C76-43CA-879F-365556378F27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E4E86-9452-4103-850A-6ED62C0D4A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52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EE4E86-9452-4103-850A-6ED62C0D4AF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92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05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34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707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285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1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1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789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219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56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866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254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0794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767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618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362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7533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5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7FACB4A-C46D-47C8-95BF-463F9F42862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6631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xhlulu/140k-real-and-fake-faces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0198328-D213-C326-1D7E-56E183E08931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0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Department of Computer Science and Engineering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2D365F0-7084-61C5-7094-2CABBCE17120}"/>
              </a:ext>
            </a:extLst>
          </p:cNvPr>
          <p:cNvSpPr txBox="1">
            <a:spLocks/>
          </p:cNvSpPr>
          <p:nvPr/>
        </p:nvSpPr>
        <p:spPr>
          <a:xfrm>
            <a:off x="1524000" y="3033895"/>
            <a:ext cx="9144000" cy="97819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solidFill>
                  <a:schemeClr val="accent1"/>
                </a:solidFill>
              </a:rPr>
              <a:t>Detection Of Deepfakes Using CNN and OpenCV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5D11516-900D-B202-8F9E-5CF4EADEF626}"/>
              </a:ext>
            </a:extLst>
          </p:cNvPr>
          <p:cNvSpPr txBox="1">
            <a:spLocks/>
          </p:cNvSpPr>
          <p:nvPr/>
        </p:nvSpPr>
        <p:spPr>
          <a:xfrm>
            <a:off x="885825" y="4579144"/>
            <a:ext cx="3790877" cy="153457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None/>
            </a:pPr>
            <a:endParaRPr lang="en-IN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8A71A92-3370-3F3A-FBBF-2A28D32816BA}"/>
              </a:ext>
            </a:extLst>
          </p:cNvPr>
          <p:cNvSpPr txBox="1">
            <a:spLocks/>
          </p:cNvSpPr>
          <p:nvPr/>
        </p:nvSpPr>
        <p:spPr>
          <a:xfrm>
            <a:off x="7245398" y="4883885"/>
            <a:ext cx="3869191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Rishi Kumar Srivastava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803CB08-E9A2-9816-D3A3-19D95D8AEED7}"/>
              </a:ext>
            </a:extLst>
          </p:cNvPr>
          <p:cNvSpPr txBox="1">
            <a:spLocks/>
          </p:cNvSpPr>
          <p:nvPr/>
        </p:nvSpPr>
        <p:spPr>
          <a:xfrm>
            <a:off x="604092" y="4735060"/>
            <a:ext cx="3869191" cy="12227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Submitted By:</a:t>
            </a:r>
          </a:p>
          <a:p>
            <a:r>
              <a:rPr lang="en-IN" dirty="0"/>
              <a:t>Vidur Gupta</a:t>
            </a:r>
          </a:p>
          <a:p>
            <a:r>
              <a:rPr lang="en-IN" dirty="0"/>
              <a:t>23FE10CSE00481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2A7EAA-718A-93CC-EFE4-39C5558A3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905294" cy="122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5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anchor="ctr">
            <a:normAutofit/>
          </a:bodyPr>
          <a:lstStyle/>
          <a:p>
            <a:pPr algn="l"/>
            <a:r>
              <a:rPr lang="en-IN" sz="480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769" y="1118809"/>
            <a:ext cx="5049763" cy="4747681"/>
          </a:xfrm>
          <a:effectLst/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Proposed Methodology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Model Architecture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Training Procedure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IN" sz="3600" dirty="0"/>
              <a:t>Introduction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Deepfake technology has rapidly evolved, making it possible to generate highly realistic synthetic human faces. </a:t>
            </a:r>
          </a:p>
          <a:p>
            <a:pPr marL="0" indent="0">
              <a:buNone/>
            </a:pPr>
            <a:r>
              <a:rPr lang="en-US" dirty="0"/>
              <a:t>While this technology has creative uses, it poses major risks in misinformation, identity fraud, and digital manipulation.</a:t>
            </a:r>
            <a:br>
              <a:rPr lang="en-US" dirty="0"/>
            </a:br>
            <a:r>
              <a:rPr lang="en-US" dirty="0"/>
              <a:t>This project focuses on detecting whether an image is real or fake using computer vision and a Convolutional Neural Network trained on real and AI-generated facial images.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8E19D-5161-2D01-698D-254AC451F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Introduction</a:t>
            </a:r>
            <a:br>
              <a:rPr lang="en-US" sz="3600" dirty="0"/>
            </a:br>
            <a:endParaRPr lang="en-IN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44B7E-4267-45C4-5657-0275AB22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7" y="1115567"/>
            <a:ext cx="6527159" cy="4787521"/>
          </a:xfrm>
        </p:spPr>
        <p:txBody>
          <a:bodyPr anchor="ctr">
            <a:normAutofit/>
          </a:bodyPr>
          <a:lstStyle/>
          <a:p>
            <a:pPr marL="36900" indent="0">
              <a:buNone/>
            </a:pPr>
            <a:r>
              <a:rPr lang="en-US" dirty="0"/>
              <a:t>Deepfake technology uses AI (GANs, Autoencoders) to generate realistic fake images/videos.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It poses serious threats such as:</a:t>
            </a:r>
          </a:p>
          <a:p>
            <a:r>
              <a:rPr lang="en-US" dirty="0"/>
              <a:t>Misinformation </a:t>
            </a:r>
          </a:p>
          <a:p>
            <a:r>
              <a:rPr lang="en-US" dirty="0"/>
              <a:t>Identity theft </a:t>
            </a:r>
          </a:p>
          <a:p>
            <a:r>
              <a:rPr lang="en-US" dirty="0"/>
              <a:t>Fraud and manipulation</a:t>
            </a:r>
          </a:p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US" dirty="0"/>
              <a:t>Detecting deepfakes is critical for </a:t>
            </a:r>
            <a:r>
              <a:rPr lang="en-US" b="1" dirty="0"/>
              <a:t>digital security and trust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16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6B097-7162-F2DA-2894-10647966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4594912-29B8-FBE1-78FC-9E8C925D2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D5C4DB-E059-9C6A-FC13-7B8C91E0B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Introduction</a:t>
            </a:r>
            <a:br>
              <a:rPr lang="en-US" sz="3600" dirty="0"/>
            </a:br>
            <a:endParaRPr lang="en-IN" sz="36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4C7A13-5FAC-B0E7-F904-668A324C6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96772-413F-F4BE-8940-469ADDB21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602" y="1236069"/>
            <a:ext cx="6527159" cy="4787521"/>
          </a:xfrm>
        </p:spPr>
        <p:txBody>
          <a:bodyPr anchor="ctr">
            <a:normAutofit/>
          </a:bodyPr>
          <a:lstStyle/>
          <a:p>
            <a:pPr marL="36900" indent="0">
              <a:buNone/>
            </a:pPr>
            <a:r>
              <a:rPr lang="en-US" dirty="0"/>
              <a:t>This project builds a </a:t>
            </a:r>
            <a:r>
              <a:rPr lang="en-US" b="1" dirty="0"/>
              <a:t>deepfake detection system using CNN + OpenCV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Key pipeline:</a:t>
            </a:r>
          </a:p>
          <a:p>
            <a:r>
              <a:rPr lang="en-US" dirty="0"/>
              <a:t>Image preprocessing (OpenCV) </a:t>
            </a:r>
          </a:p>
          <a:p>
            <a:r>
              <a:rPr lang="en-US" dirty="0"/>
              <a:t>Deep learning classification (CNN + MobileNetV2) </a:t>
            </a:r>
          </a:p>
          <a:p>
            <a:r>
              <a:rPr lang="en-US" dirty="0"/>
              <a:t>Real-time prediction using </a:t>
            </a:r>
            <a:r>
              <a:rPr lang="en-US" dirty="0" err="1"/>
              <a:t>Gradio</a:t>
            </a:r>
            <a:endParaRPr lang="en-US" dirty="0"/>
          </a:p>
          <a:p>
            <a:pPr marL="36900" indent="0">
              <a:buNone/>
            </a:pPr>
            <a:r>
              <a:rPr lang="en-US" dirty="0"/>
              <a:t>Goal: </a:t>
            </a:r>
            <a:r>
              <a:rPr lang="en-US" b="1" dirty="0"/>
              <a:t>High accuracy + real-time usability</a:t>
            </a:r>
            <a:r>
              <a:rPr lang="en-US" dirty="0"/>
              <a:t> 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21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722" y="2140689"/>
            <a:ext cx="6352760" cy="4026195"/>
          </a:xfrm>
        </p:spPr>
        <p:txBody>
          <a:bodyPr anchor="ctr">
            <a:normAutofit fontScale="92500" lnSpcReduction="20000"/>
          </a:bodyPr>
          <a:lstStyle/>
          <a:p>
            <a:r>
              <a:rPr lang="en-IN" b="1" dirty="0"/>
              <a:t>Chen et al. (2023)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Used CNN with frequency-domain features for deepfake detection </a:t>
            </a:r>
          </a:p>
          <a:p>
            <a:pPr lvl="1"/>
            <a:r>
              <a:rPr lang="en-IN" dirty="0"/>
              <a:t> Improved accuracy using texture inconsistencies </a:t>
            </a:r>
          </a:p>
          <a:p>
            <a:pPr marL="450000" lvl="1" indent="0">
              <a:buNone/>
            </a:pPr>
            <a:endParaRPr lang="en-IN" dirty="0"/>
          </a:p>
          <a:p>
            <a:r>
              <a:rPr lang="en-IN" b="1" dirty="0"/>
              <a:t>Liu et al. (2023)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Applied spatiotemporal CNNs for deepfake detection </a:t>
            </a:r>
          </a:p>
          <a:p>
            <a:pPr lvl="1"/>
            <a:r>
              <a:rPr lang="en-IN" dirty="0"/>
              <a:t> Effective for video-based detection </a:t>
            </a:r>
          </a:p>
          <a:p>
            <a:pPr marL="450000" lvl="1" indent="0">
              <a:buNone/>
            </a:pPr>
            <a:endParaRPr lang="en-IN" dirty="0"/>
          </a:p>
          <a:p>
            <a:r>
              <a:rPr lang="en-IN" b="1" dirty="0"/>
              <a:t>Khalid &amp; Woo (2024)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Proposed one-class deepfake detection (OC-</a:t>
            </a:r>
            <a:r>
              <a:rPr lang="en-IN" dirty="0" err="1"/>
              <a:t>FakeDect</a:t>
            </a:r>
            <a:r>
              <a:rPr lang="en-IN" dirty="0"/>
              <a:t>) </a:t>
            </a:r>
          </a:p>
          <a:p>
            <a:pPr lvl="1"/>
            <a:r>
              <a:rPr lang="en-IN" dirty="0"/>
              <a:t> Detects unseen fake patterns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Newspaper">
            <a:extLst>
              <a:ext uri="{FF2B5EF4-FFF2-40B4-BE49-F238E27FC236}">
                <a16:creationId xmlns:a16="http://schemas.microsoft.com/office/drawing/2014/main" id="{DA642E85-7517-1A36-8952-5D2944F84D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CD893-BDDE-43D2-9A64-050CC887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23BB-872A-3586-53A0-05A02E953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en-IN" dirty="0"/>
              <a:t>Literature Review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Newspaper">
            <a:extLst>
              <a:ext uri="{FF2B5EF4-FFF2-40B4-BE49-F238E27FC236}">
                <a16:creationId xmlns:a16="http://schemas.microsoft.com/office/drawing/2014/main" id="{6599EAD4-F74A-D2AE-39CE-0E800930FB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0D92851-0EA6-98C5-1A28-6E7ECD34D0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463" y="2812555"/>
            <a:ext cx="71821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Nguyen et al. (2023)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Body)"/>
              </a:rPr>
              <a:t>Used vision-language pretraining for deepfake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Improved feature understanding using multimodal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Abdelali et al. (2024)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Proposed lightweight CNN for real-time deepfake detection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Faster inference with good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 (Body)"/>
            </a:endParaRPr>
          </a:p>
        </p:txBody>
      </p:sp>
    </p:spTree>
    <p:extLst>
      <p:ext uri="{BB962C8B-B14F-4D97-AF65-F5344CB8AC3E}">
        <p14:creationId xmlns:p14="http://schemas.microsoft.com/office/powerpoint/2010/main" val="1604777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A5598-F09E-09D8-31D2-3EE5CF7B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F2358-22A0-2EB7-416C-570AC8D6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en-IN" dirty="0"/>
              <a:t>Literature Review (Research Gap)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D66AB-FF66-81D8-124F-C611FB644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185" y="5394251"/>
            <a:ext cx="5927848" cy="13584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b="1" dirty="0"/>
              <a:t>Summary:</a:t>
            </a:r>
            <a:r>
              <a:rPr lang="en-US" dirty="0"/>
              <a:t> Existing models struggle with generalization and explainability. A lightweight, effective, and interpretable solution is still needed.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Newspaper">
            <a:extLst>
              <a:ext uri="{FF2B5EF4-FFF2-40B4-BE49-F238E27FC236}">
                <a16:creationId xmlns:a16="http://schemas.microsoft.com/office/drawing/2014/main" id="{4CE94105-34DB-4F14-A2DC-B73A25D49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8CC619-8117-8BDE-7D7E-452FC704B7B9}"/>
              </a:ext>
            </a:extLst>
          </p:cNvPr>
          <p:cNvSpPr txBox="1"/>
          <p:nvPr/>
        </p:nvSpPr>
        <p:spPr>
          <a:xfrm>
            <a:off x="402267" y="2151727"/>
            <a:ext cx="61871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Existing methods: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Struggle with generalization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High computational cost (especially video models) 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Limited real-time deployment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Trade-off between </a:t>
            </a:r>
            <a:r>
              <a:rPr lang="en-US" sz="2000" b="1" dirty="0"/>
              <a:t>accuracy vs speed</a:t>
            </a:r>
            <a:r>
              <a:rPr lang="en-US" sz="2000" dirty="0"/>
              <a:t> still exists</a:t>
            </a:r>
          </a:p>
        </p:txBody>
      </p:sp>
    </p:spTree>
    <p:extLst>
      <p:ext uri="{BB962C8B-B14F-4D97-AF65-F5344CB8AC3E}">
        <p14:creationId xmlns:p14="http://schemas.microsoft.com/office/powerpoint/2010/main" val="3142922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5978072" cy="1329596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474" y="2127623"/>
            <a:ext cx="6693393" cy="35672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Deepfakes are becoming increasingly realistic, making them hard to detect.</a:t>
            </a:r>
            <a:br>
              <a:rPr lang="en-US" dirty="0"/>
            </a:br>
            <a:r>
              <a:rPr lang="en-US" dirty="0"/>
              <a:t>Current models lack accuracy, speed, and generalization.</a:t>
            </a:r>
            <a:br>
              <a:rPr lang="en-US" dirty="0"/>
            </a:br>
            <a:r>
              <a:rPr lang="en-US" dirty="0"/>
              <a:t>There is a need for a lightweight CNN model that can quickly and reliably classify real vs fake faces and work well on diverse images.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E9CAC-347C-43C2-AE87-6BC5566E6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7232905" y="1"/>
            <a:ext cx="4959095" cy="6858000"/>
          </a:xfrm>
          <a:prstGeom prst="rect">
            <a:avLst/>
          </a:prstGeom>
        </p:spPr>
      </p:pic>
      <p:pic>
        <p:nvPicPr>
          <p:cNvPr id="7" name="Graphic 6" descr="Hourglass">
            <a:extLst>
              <a:ext uri="{FF2B5EF4-FFF2-40B4-BE49-F238E27FC236}">
                <a16:creationId xmlns:a16="http://schemas.microsoft.com/office/drawing/2014/main" id="{18F3EC3D-F0DC-57B3-D760-A764072F32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52945" y="1197355"/>
            <a:ext cx="3995592" cy="399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anchor="ctr">
            <a:normAutofit/>
          </a:bodyPr>
          <a:lstStyle/>
          <a:p>
            <a:pPr algn="l"/>
            <a:r>
              <a:rPr lang="en-IN" sz="48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769" y="1118809"/>
            <a:ext cx="5049763" cy="4747681"/>
          </a:xfrm>
          <a:effectLst/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To design a CNN model that classifies facial images as real or fake.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To preprocess images using OpenCV for consistent model inputs.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To evaluate performance using accuracy, confusion matrix, F1 score, and ROC AUC.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To build a complete prediction pipeline for real-time detection.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/>
              <a:t>Deploy system using </a:t>
            </a:r>
            <a:r>
              <a:rPr lang="en-US" b="1" dirty="0" err="1"/>
              <a:t>Gradio</a:t>
            </a:r>
            <a:r>
              <a:rPr lang="en-US" b="1" dirty="0"/>
              <a:t> for real-time prediction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4ACEB-3996-E6DD-E542-1E831253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A53CD9-7AE2-E988-A006-5F40AF83C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anchor="ctr">
            <a:normAutofit/>
          </a:bodyPr>
          <a:lstStyle/>
          <a:p>
            <a:pPr algn="l"/>
            <a:r>
              <a:rPr lang="en-IN" sz="480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DE0EB-3263-237D-B895-3202DD46F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769" y="1118809"/>
            <a:ext cx="5458233" cy="4747681"/>
          </a:xfrm>
          <a:effectLst/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</a:rPr>
              <a:t>                Dataset Used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Kaggle – “140K Real and Fake Faces”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>
                <a:solidFill>
                  <a:schemeClr val="tx1"/>
                </a:solidFill>
              </a:rPr>
              <a:t>Balanced dataset:</a:t>
            </a:r>
          </a:p>
          <a:p>
            <a:r>
              <a:rPr lang="en-US" dirty="0">
                <a:solidFill>
                  <a:schemeClr val="tx1"/>
                </a:solidFill>
              </a:rPr>
              <a:t>Real images </a:t>
            </a:r>
          </a:p>
          <a:p>
            <a:r>
              <a:rPr lang="en-US" dirty="0">
                <a:solidFill>
                  <a:schemeClr val="tx1"/>
                </a:solidFill>
              </a:rPr>
              <a:t>GAN-generated fake images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Real images: High-quality actual human faces.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Fake images: GAN-generated synthetic faces.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Balanced sampling of real and fake images used for training.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63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766711-9004-4A0C-AFCA-7F52B72A6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6003053" cy="970450"/>
          </a:xfrm>
        </p:spPr>
        <p:txBody>
          <a:bodyPr>
            <a:normAutofit/>
          </a:bodyPr>
          <a:lstStyle/>
          <a:p>
            <a:r>
              <a:rPr lang="en-IN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6003053" cy="4058751"/>
          </a:xfrm>
        </p:spPr>
        <p:txBody>
          <a:bodyPr anchor="ctr">
            <a:normAutofit/>
          </a:bodyPr>
          <a:lstStyle/>
          <a:p>
            <a:r>
              <a:rPr lang="en-IN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Dataset download from Kaggle (140K Real &amp; Fake Faces)</a:t>
            </a:r>
          </a:p>
          <a:p>
            <a:r>
              <a:rPr lang="en-IN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Image preprocessing using OpenCV</a:t>
            </a:r>
          </a:p>
          <a:p>
            <a:r>
              <a:rPr lang="en-IN" dirty="0">
                <a:solidFill>
                  <a:schemeClr val="bg1"/>
                </a:solidFill>
              </a:rPr>
              <a:t>CNN + MobileNetV2 Training</a:t>
            </a:r>
          </a:p>
          <a:p>
            <a:r>
              <a:rPr lang="en-IN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Validation &amp; tuning</a:t>
            </a:r>
          </a:p>
          <a:p>
            <a:r>
              <a:rPr lang="en-IN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Prediction and explainability (occlusion, noise, blur)</a:t>
            </a:r>
          </a:p>
          <a:p>
            <a:r>
              <a:rPr lang="en-IN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Final evaluation and saving the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D87990-4B89-42C0-89D8-E13079968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1978" y="965196"/>
            <a:ext cx="3685394" cy="4781641"/>
          </a:xfrm>
          <a:prstGeom prst="rect">
            <a:avLst/>
          </a:prstGeom>
          <a:solidFill>
            <a:schemeClr val="bg1"/>
          </a:solidFill>
          <a:ln w="190500">
            <a:solidFill>
              <a:srgbClr val="FFFFFF">
                <a:alpha val="6667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training&#10;&#10;AI-generated content may be incorrect.">
            <a:extLst>
              <a:ext uri="{FF2B5EF4-FFF2-40B4-BE49-F238E27FC236}">
                <a16:creationId xmlns:a16="http://schemas.microsoft.com/office/drawing/2014/main" id="{E923DDB5-EBB5-B099-8012-14E1EAF6F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96" y="1438360"/>
            <a:ext cx="1524536" cy="383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24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B1BE1-8394-C15A-544F-82F09B259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492F8-BBC9-A4D8-AC2C-0D2FBA105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354" y="2435010"/>
            <a:ext cx="7691827" cy="336327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Conv2D (features extraction edges, corners) + MaxPooling (</a:t>
            </a:r>
            <a:r>
              <a:rPr lang="en-IN" dirty="0"/>
              <a:t>Keeps strongest-features, </a:t>
            </a:r>
            <a:r>
              <a:rPr lang="en-US" dirty="0"/>
              <a:t>size reduction)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Batch Normalization (stable and fast training)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MaxPooling2D (reduces size by half) (imp ft. only)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Flatten(2D to 1D vector) + Dense Layers (final decision)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Dropout for regularization and prevent overfitting &amp; data memorization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DENSE LAYER - Sigmoid activation for binary classification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6AAFF90-89E1-46D5-B8B5-3BFDBB92D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</p:spPr>
      </p:pic>
      <p:pic>
        <p:nvPicPr>
          <p:cNvPr id="5" name="Picture 4" descr="A black and white rectangular object with text&#10;&#10;AI-generated content may be incorrect.">
            <a:extLst>
              <a:ext uri="{FF2B5EF4-FFF2-40B4-BE49-F238E27FC236}">
                <a16:creationId xmlns:a16="http://schemas.microsoft.com/office/drawing/2014/main" id="{BC141874-3B24-302C-7343-AF3E7D3B1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107" y="128586"/>
            <a:ext cx="2698045" cy="653653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F1AFC43-15CF-7AE5-9A81-5A48E5924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882" y="1485258"/>
            <a:ext cx="11183729" cy="146254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accent1"/>
                </a:solidFill>
              </a:rPr>
              <a:t>Model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F4F17B-D923-B3DF-BAF2-07C5E993475B}"/>
              </a:ext>
            </a:extLst>
          </p:cNvPr>
          <p:cNvSpPr txBox="1"/>
          <p:nvPr/>
        </p:nvSpPr>
        <p:spPr>
          <a:xfrm>
            <a:off x="4731489" y="232824"/>
            <a:ext cx="5962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BLOCK 1 : Basic Feature Detection (</a:t>
            </a:r>
            <a:r>
              <a:rPr lang="en-IN" dirty="0"/>
              <a:t>edges, lines)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394EFD-E65D-8C3E-4D63-2F638328EDC0}"/>
              </a:ext>
            </a:extLst>
          </p:cNvPr>
          <p:cNvSpPr txBox="1"/>
          <p:nvPr/>
        </p:nvSpPr>
        <p:spPr>
          <a:xfrm>
            <a:off x="4790824" y="591777"/>
            <a:ext cx="697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BLOCK 2 </a:t>
            </a:r>
            <a:r>
              <a:rPr lang="en-US" dirty="0"/>
              <a:t>:</a:t>
            </a:r>
            <a:r>
              <a:rPr lang="en-IN" dirty="0"/>
              <a:t> Facial Structure Detection (eyes, nose)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F426AE-9387-1A03-037B-F88FEDD5C3F1}"/>
              </a:ext>
            </a:extLst>
          </p:cNvPr>
          <p:cNvSpPr txBox="1"/>
          <p:nvPr/>
        </p:nvSpPr>
        <p:spPr>
          <a:xfrm>
            <a:off x="4790824" y="940351"/>
            <a:ext cx="6972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BLOCK 3 </a:t>
            </a:r>
            <a:r>
              <a:rPr lang="en-US" dirty="0"/>
              <a:t>:</a:t>
            </a:r>
            <a:r>
              <a:rPr lang="en-IN" dirty="0"/>
              <a:t> Texture Analysis (skin texture mismatch &amp; noise patterns)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48946-3963-33BB-E7B0-E3809B378A3F}"/>
              </a:ext>
            </a:extLst>
          </p:cNvPr>
          <p:cNvSpPr txBox="1"/>
          <p:nvPr/>
        </p:nvSpPr>
        <p:spPr>
          <a:xfrm>
            <a:off x="4778892" y="1248487"/>
            <a:ext cx="697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BLOCK 4 : High Level Forgery Detection (</a:t>
            </a:r>
            <a:r>
              <a:rPr lang="en-IN" dirty="0"/>
              <a:t>unnatural symmetry &amp; biological inconsistency)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6C0E9C-EE5F-D7FC-09DA-344680CE2E61}"/>
              </a:ext>
            </a:extLst>
          </p:cNvPr>
          <p:cNvSpPr txBox="1"/>
          <p:nvPr/>
        </p:nvSpPr>
        <p:spPr>
          <a:xfrm>
            <a:off x="4743421" y="5737724"/>
            <a:ext cx="70671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dirty="0"/>
              <a:t>Transfer Learning:</a:t>
            </a:r>
          </a:p>
          <a:p>
            <a:r>
              <a:rPr lang="en-US" sz="1400" dirty="0"/>
              <a:t>MobileNetV2 (ImageNet pretrained)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90C56C-E688-EE94-F42C-86E99E801869}"/>
              </a:ext>
            </a:extLst>
          </p:cNvPr>
          <p:cNvSpPr txBox="1"/>
          <p:nvPr/>
        </p:nvSpPr>
        <p:spPr>
          <a:xfrm>
            <a:off x="4731489" y="6200380"/>
            <a:ext cx="70671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Ensemble of CNN + MobileNetV2</a:t>
            </a:r>
          </a:p>
        </p:txBody>
      </p:sp>
    </p:spTree>
    <p:extLst>
      <p:ext uri="{BB962C8B-B14F-4D97-AF65-F5344CB8AC3E}">
        <p14:creationId xmlns:p14="http://schemas.microsoft.com/office/powerpoint/2010/main" val="2439100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72" y="609600"/>
            <a:ext cx="5844759" cy="970450"/>
          </a:xfrm>
        </p:spPr>
        <p:txBody>
          <a:bodyPr>
            <a:normAutofit/>
          </a:bodyPr>
          <a:lstStyle/>
          <a:p>
            <a:r>
              <a:rPr lang="en-IN" dirty="0"/>
              <a:t>Training Procedure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9" name="Graphic 8" descr="Flowchart">
            <a:extLst>
              <a:ext uri="{FF2B5EF4-FFF2-40B4-BE49-F238E27FC236}">
                <a16:creationId xmlns:a16="http://schemas.microsoft.com/office/drawing/2014/main" id="{034F9D7F-076C-8DB0-0CAC-6693CE67BA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15" y="1193554"/>
            <a:ext cx="4003193" cy="40031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6047" y="1828801"/>
            <a:ext cx="7235953" cy="386604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dirty="0"/>
              <a:t>Training performed on Google Colab (T4 GPU)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Data augmentation applied (rotation, flipping, zoom)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Early stopping + </a:t>
            </a:r>
            <a:r>
              <a:rPr lang="en-IN" dirty="0" err="1"/>
              <a:t>ReduceLROnPlateau</a:t>
            </a:r>
            <a:r>
              <a:rPr lang="en-IN" dirty="0"/>
              <a:t> used to avoid overfitting.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Model saved in .</a:t>
            </a:r>
            <a:r>
              <a:rPr lang="en-IN" dirty="0" err="1"/>
              <a:t>keras</a:t>
            </a:r>
            <a:r>
              <a:rPr lang="en-IN" dirty="0"/>
              <a:t> format for deployment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8C13E-47A5-A6D9-F7F9-FECEFB36E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C62C-5D9C-784D-EF39-760A7124E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472" y="609600"/>
            <a:ext cx="5844759" cy="970450"/>
          </a:xfrm>
        </p:spPr>
        <p:txBody>
          <a:bodyPr>
            <a:normAutofit/>
          </a:bodyPr>
          <a:lstStyle/>
          <a:p>
            <a:r>
              <a:rPr lang="en-IN" dirty="0"/>
              <a:t>Testing Procedure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05F23C-C82E-4181-95EA-321F3D891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-10650" y="1"/>
            <a:ext cx="4966697" cy="6858000"/>
          </a:xfrm>
          <a:prstGeom prst="rect">
            <a:avLst/>
          </a:prstGeom>
        </p:spPr>
      </p:pic>
      <p:pic>
        <p:nvPicPr>
          <p:cNvPr id="7" name="Graphic 6" descr="Test Case">
            <a:extLst>
              <a:ext uri="{FF2B5EF4-FFF2-40B4-BE49-F238E27FC236}">
                <a16:creationId xmlns:a16="http://schemas.microsoft.com/office/drawing/2014/main" id="{B85D2F68-0CCC-3D26-3FD3-C1E2A13B3A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815" y="1193554"/>
            <a:ext cx="4003193" cy="400319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CC3C6-DFA1-74A8-E35A-137732433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470" y="2010285"/>
            <a:ext cx="6691491" cy="3866048"/>
          </a:xfrm>
        </p:spPr>
        <p:txBody>
          <a:bodyPr anchor="ctr">
            <a:normAutofit/>
          </a:bodyPr>
          <a:lstStyle/>
          <a:p>
            <a:pPr marL="36900" indent="0">
              <a:buNone/>
            </a:pPr>
            <a:r>
              <a:rPr lang="en-US" dirty="0"/>
              <a:t>Test set loaded using </a:t>
            </a:r>
            <a:r>
              <a:rPr lang="en-US" dirty="0" err="1"/>
              <a:t>ImageDataGenerator</a:t>
            </a:r>
            <a:endParaRPr lang="en-US" dirty="0"/>
          </a:p>
          <a:p>
            <a:pPr marL="36900" indent="0">
              <a:buNone/>
            </a:pPr>
            <a:br>
              <a:rPr lang="en-US" dirty="0"/>
            </a:br>
            <a:r>
              <a:rPr lang="en-US" dirty="0"/>
              <a:t>Predictions evaluated using threshold 0.5</a:t>
            </a:r>
          </a:p>
          <a:p>
            <a:pPr marL="36900" indent="0">
              <a:buNone/>
            </a:pPr>
            <a:br>
              <a:rPr lang="en-US" dirty="0"/>
            </a:br>
            <a:r>
              <a:rPr lang="en-US" dirty="0"/>
              <a:t>Model performance measured using:</a:t>
            </a:r>
            <a:br>
              <a:rPr lang="en-US" dirty="0"/>
            </a:br>
            <a:r>
              <a:rPr lang="en-US" dirty="0"/>
              <a:t>  Confusion Matrix</a:t>
            </a:r>
            <a:br>
              <a:rPr lang="en-US" dirty="0"/>
            </a:br>
            <a:r>
              <a:rPr lang="en-US" dirty="0"/>
              <a:t>  Precision, Recall, F1 Score</a:t>
            </a:r>
            <a:br>
              <a:rPr lang="en-US" dirty="0"/>
            </a:br>
            <a:r>
              <a:rPr lang="en-US" dirty="0"/>
              <a:t>  ROC Curve &amp; AUC</a:t>
            </a:r>
          </a:p>
          <a:p>
            <a:pPr marL="36900" indent="0">
              <a:buNone/>
            </a:pPr>
            <a:br>
              <a:rPr lang="en-US" dirty="0"/>
            </a:br>
            <a:r>
              <a:rPr lang="en-US" dirty="0"/>
              <a:t>Explainability applied using occlusion and noise sensitivity</a:t>
            </a:r>
          </a:p>
        </p:txBody>
      </p:sp>
    </p:spTree>
    <p:extLst>
      <p:ext uri="{BB962C8B-B14F-4D97-AF65-F5344CB8AC3E}">
        <p14:creationId xmlns:p14="http://schemas.microsoft.com/office/powerpoint/2010/main" val="2990364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67" y="609600"/>
            <a:ext cx="4791740" cy="970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accent1"/>
                </a:solidFill>
              </a:rPr>
              <a:t>Results (Confusion Matrix)</a:t>
            </a:r>
            <a:b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accent1"/>
                </a:solidFill>
              </a:rPr>
            </a:br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accent1"/>
                </a:solidFill>
              </a:rPr>
              <a:t>of the Ensemble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B00BB-3561-559A-955A-23A7F56170DB}"/>
              </a:ext>
            </a:extLst>
          </p:cNvPr>
          <p:cNvSpPr txBox="1"/>
          <p:nvPr/>
        </p:nvSpPr>
        <p:spPr>
          <a:xfrm>
            <a:off x="446567" y="2065602"/>
            <a:ext cx="4614530" cy="41489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1600" dirty="0">
                <a:solidFill>
                  <a:schemeClr val="bg1"/>
                </a:solidFill>
              </a:rPr>
              <a:t>The confusion matrix shows that the model correctly classifies the majority of real and fake images with high accuracy. 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endParaRPr lang="en-US" sz="1600" dirty="0">
              <a:solidFill>
                <a:schemeClr val="bg1"/>
              </a:solidFill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endParaRPr lang="en-US" sz="1600" dirty="0">
              <a:solidFill>
                <a:schemeClr val="bg1"/>
              </a:solidFill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endParaRPr lang="en-US" sz="1600" dirty="0">
              <a:solidFill>
                <a:schemeClr val="bg1"/>
              </a:solidFill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en-US" sz="1600" dirty="0">
                <a:solidFill>
                  <a:schemeClr val="bg1"/>
                </a:solidFill>
              </a:rPr>
              <a:t>A small number of deepfakes are missed and some real images are incorrectly flagged, but overall performance has significantly improved, achieving an accuracy of </a:t>
            </a:r>
            <a:r>
              <a:rPr lang="en-US" sz="1600" b="1" dirty="0">
                <a:solidFill>
                  <a:schemeClr val="bg1"/>
                </a:solidFill>
              </a:rPr>
              <a:t>93.575%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</a:p>
          <a:p>
            <a:pPr defTabSz="4572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</a:pPr>
            <a:endParaRPr lang="en-US" sz="16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67C42F-7ABA-298B-D814-6DB4105DF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399" y="643466"/>
            <a:ext cx="61900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569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56" y="395877"/>
            <a:ext cx="10353762" cy="970450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Results (ROC Curve), Precision &amp; F1-Score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E4DDF-2265-7288-D779-39084BF6B39C}"/>
              </a:ext>
            </a:extLst>
          </p:cNvPr>
          <p:cNvSpPr txBox="1"/>
          <p:nvPr/>
        </p:nvSpPr>
        <p:spPr>
          <a:xfrm>
            <a:off x="337588" y="5597997"/>
            <a:ext cx="63082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AUC = 0.982 indicates the model has strong discriminatory power and detects deepfakes with high accuracy.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19FEFA-E263-2235-D4E8-2981D1394FBC}"/>
              </a:ext>
            </a:extLst>
          </p:cNvPr>
          <p:cNvSpPr txBox="1"/>
          <p:nvPr/>
        </p:nvSpPr>
        <p:spPr>
          <a:xfrm>
            <a:off x="1233377" y="51298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Receiver Operating Characteristic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112D6E-34B0-1DE4-8C06-FA43F538ECAD}"/>
              </a:ext>
            </a:extLst>
          </p:cNvPr>
          <p:cNvSpPr txBox="1"/>
          <p:nvPr/>
        </p:nvSpPr>
        <p:spPr>
          <a:xfrm>
            <a:off x="7740503" y="4312392"/>
            <a:ext cx="4451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Precision, Recall &amp; F1- Score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B08258-747D-FD6C-32FE-DA79823ED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110" y="2262091"/>
            <a:ext cx="5611008" cy="19719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FF4D6E-14FF-2E44-469E-94116859A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31" y="1306791"/>
            <a:ext cx="4640869" cy="3724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FAA615-01EB-CBF4-836C-7949D1133BE5}"/>
              </a:ext>
            </a:extLst>
          </p:cNvPr>
          <p:cNvSpPr txBox="1"/>
          <p:nvPr/>
        </p:nvSpPr>
        <p:spPr>
          <a:xfrm>
            <a:off x="6344093" y="4895709"/>
            <a:ext cx="6096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Achieved </a:t>
            </a:r>
            <a:r>
              <a:rPr lang="en-US" sz="1400" b="1" dirty="0"/>
              <a:t>93% overall accuracy</a:t>
            </a:r>
            <a:r>
              <a:rPr lang="en-US" sz="1400" dirty="0"/>
              <a:t> on 20,000 samples</a:t>
            </a:r>
          </a:p>
          <a:p>
            <a:endParaRPr lang="en-US" sz="1400" dirty="0"/>
          </a:p>
          <a:p>
            <a:r>
              <a:rPr lang="en-US" sz="1400" dirty="0"/>
              <a:t>Balanced performance for both </a:t>
            </a:r>
            <a:r>
              <a:rPr lang="en-US" sz="1400" b="1" dirty="0"/>
              <a:t>real and fake classes (F1-score</a:t>
            </a:r>
            <a:r>
              <a:rPr lang="en-US" sz="1400" b="1"/>
              <a:t>: 0.934)</a:t>
            </a:r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High precision and recall indicate </a:t>
            </a:r>
            <a:r>
              <a:rPr lang="en-US" sz="1400" b="1" dirty="0"/>
              <a:t>reliable and consistent predictions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5299D-4975-6157-BF7B-2DBE5EFE2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36FC-E009-CB2B-81AD-698288340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Predictions (Original Model)</a:t>
            </a:r>
          </a:p>
        </p:txBody>
      </p:sp>
      <p:pic>
        <p:nvPicPr>
          <p:cNvPr id="13" name="Content Placeholder 12" descr="A person smiling with her hand on her shoulder&#10;&#10;AI-generated content may be incorrect.">
            <a:extLst>
              <a:ext uri="{FF2B5EF4-FFF2-40B4-BE49-F238E27FC236}">
                <a16:creationId xmlns:a16="http://schemas.microsoft.com/office/drawing/2014/main" id="{20490CA3-8A03-9F7B-9CA0-73A55B499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790" y="1633103"/>
            <a:ext cx="3557023" cy="3758191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BF615B-2CB9-096E-CBB4-7FDA0A098444}"/>
              </a:ext>
            </a:extLst>
          </p:cNvPr>
          <p:cNvSpPr txBox="1"/>
          <p:nvPr/>
        </p:nvSpPr>
        <p:spPr>
          <a:xfrm>
            <a:off x="1443459" y="5444349"/>
            <a:ext cx="4433830" cy="731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Fake Image (0.79):</a:t>
            </a:r>
            <a:br>
              <a:rPr lang="en-US" sz="1400" dirty="0"/>
            </a:br>
            <a:r>
              <a:rPr lang="en-US" sz="1400" dirty="0"/>
              <a:t>Model detects synthetic facial patterns; high confidence in fake classification.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BEC66-3D8C-98DC-F0DF-E406FC517BB4}"/>
              </a:ext>
            </a:extLst>
          </p:cNvPr>
          <p:cNvSpPr txBox="1"/>
          <p:nvPr/>
        </p:nvSpPr>
        <p:spPr>
          <a:xfrm>
            <a:off x="7696513" y="5596749"/>
            <a:ext cx="44338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Real Image (0.17):</a:t>
            </a:r>
            <a:br>
              <a:rPr lang="en-US" sz="1400" dirty="0"/>
            </a:br>
            <a:r>
              <a:rPr lang="en-US" sz="1400" dirty="0"/>
              <a:t>Model identifies natural facial features; predicted as real.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9A14BC3-FA20-9E96-30E0-745862C66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513" y="1529574"/>
            <a:ext cx="3705225" cy="391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9230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603E5-D784-EA15-63FE-193E53AD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E3B0-4C34-65D5-EE97-35917154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Predictions (Ensemble Model)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5BD146-D92F-962E-69D1-C25E632BD953}"/>
              </a:ext>
            </a:extLst>
          </p:cNvPr>
          <p:cNvSpPr txBox="1"/>
          <p:nvPr/>
        </p:nvSpPr>
        <p:spPr>
          <a:xfrm>
            <a:off x="7830080" y="5424851"/>
            <a:ext cx="4433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FAKE image → Confidence ≈ 0.9995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8F8AA7-2DA8-3C9A-76C8-C2C03DA527E3}"/>
              </a:ext>
            </a:extLst>
          </p:cNvPr>
          <p:cNvSpPr txBox="1"/>
          <p:nvPr/>
        </p:nvSpPr>
        <p:spPr>
          <a:xfrm>
            <a:off x="1656846" y="5424851"/>
            <a:ext cx="4433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REAL image → Confidence ≈ 0.00</a:t>
            </a:r>
            <a:endParaRPr lang="en-US" sz="1400" dirty="0"/>
          </a:p>
        </p:txBody>
      </p:sp>
      <p:pic>
        <p:nvPicPr>
          <p:cNvPr id="5" name="Figure" descr="Figure" title="Figure">
            <a:extLst>
              <a:ext uri="{FF2B5EF4-FFF2-40B4-BE49-F238E27FC236}">
                <a16:creationId xmlns:a16="http://schemas.microsoft.com/office/drawing/2014/main" id="{5F44ED16-15E3-682A-38B2-90F4893DC5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3" b="1"/>
          <a:stretch>
            <a:fillRect/>
          </a:stretch>
        </p:blipFill>
        <p:spPr bwMode="auto">
          <a:xfrm>
            <a:off x="1608491" y="1922115"/>
            <a:ext cx="3225778" cy="31143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Figure" descr="Figure" title="Figure">
            <a:extLst>
              <a:ext uri="{FF2B5EF4-FFF2-40B4-BE49-F238E27FC236}">
                <a16:creationId xmlns:a16="http://schemas.microsoft.com/office/drawing/2014/main" id="{DE293518-3301-3B58-50E7-D258A92634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884"/>
          <a:stretch>
            <a:fillRect/>
          </a:stretch>
        </p:blipFill>
        <p:spPr bwMode="auto">
          <a:xfrm>
            <a:off x="7972107" y="1857616"/>
            <a:ext cx="2799263" cy="317888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22C470-E458-343A-BCA0-C7902112E98B}"/>
              </a:ext>
            </a:extLst>
          </p:cNvPr>
          <p:cNvSpPr txBox="1"/>
          <p:nvPr/>
        </p:nvSpPr>
        <p:spPr>
          <a:xfrm>
            <a:off x="3873761" y="6248400"/>
            <a:ext cx="613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gives </a:t>
            </a:r>
            <a:r>
              <a:rPr lang="en-US" b="1" dirty="0"/>
              <a:t>high confidence predictions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9818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9F4F-E869-A3C2-0233-CDD1D330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5168052" cy="1117600"/>
          </a:xfrm>
        </p:spPr>
        <p:txBody>
          <a:bodyPr>
            <a:normAutofit/>
          </a:bodyPr>
          <a:lstStyle/>
          <a:p>
            <a:r>
              <a:rPr lang="en-IN"/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6044-C3E8-CA8A-B322-C8D2D4BD8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828800"/>
            <a:ext cx="5168052" cy="3962400"/>
          </a:xfrm>
        </p:spPr>
        <p:txBody>
          <a:bodyPr>
            <a:normAutofit/>
          </a:bodyPr>
          <a:lstStyle/>
          <a:p>
            <a:pPr>
              <a:buClr>
                <a:srgbClr val="FE9B02"/>
              </a:buClr>
            </a:pPr>
            <a:r>
              <a:rPr lang="en-US"/>
              <a:t>Integrated with </a:t>
            </a:r>
            <a:r>
              <a:rPr lang="en-US" b="1"/>
              <a:t>OpenCV preprocessing pipeline</a:t>
            </a:r>
            <a:r>
              <a:rPr lang="en-US"/>
              <a:t> </a:t>
            </a:r>
          </a:p>
          <a:p>
            <a:pPr>
              <a:buClr>
                <a:srgbClr val="FE9B02"/>
              </a:buClr>
            </a:pPr>
            <a:r>
              <a:rPr lang="en-US"/>
              <a:t>Deployed using </a:t>
            </a:r>
            <a:r>
              <a:rPr lang="en-US" b="1"/>
              <a:t>Gradio web interface</a:t>
            </a:r>
            <a:r>
              <a:rPr lang="en-US"/>
              <a:t> </a:t>
            </a:r>
          </a:p>
          <a:p>
            <a:pPr>
              <a:buClr>
                <a:srgbClr val="FE9B02"/>
              </a:buClr>
            </a:pPr>
            <a:r>
              <a:rPr lang="en-US"/>
              <a:t>Features: </a:t>
            </a:r>
          </a:p>
          <a:p>
            <a:pPr lvl="1">
              <a:buClr>
                <a:srgbClr val="FE9B02"/>
              </a:buClr>
            </a:pPr>
            <a:r>
              <a:rPr lang="en-US"/>
              <a:t>Upload image </a:t>
            </a:r>
          </a:p>
          <a:p>
            <a:pPr lvl="1">
              <a:buClr>
                <a:srgbClr val="FE9B02"/>
              </a:buClr>
            </a:pPr>
            <a:r>
              <a:rPr lang="en-US"/>
              <a:t>Instant prediction </a:t>
            </a:r>
          </a:p>
          <a:p>
            <a:pPr lvl="1">
              <a:buClr>
                <a:srgbClr val="FE9B02"/>
              </a:buClr>
            </a:pPr>
            <a:r>
              <a:rPr lang="en-US"/>
              <a:t>Confidence score </a:t>
            </a:r>
          </a:p>
          <a:p>
            <a:pPr>
              <a:buClr>
                <a:srgbClr val="FE9B02"/>
              </a:buClr>
            </a:pPr>
            <a:r>
              <a:rPr lang="en-US"/>
              <a:t> Real-time inference (~40 ms)</a:t>
            </a:r>
          </a:p>
          <a:p>
            <a:pPr>
              <a:buClr>
                <a:srgbClr val="FE9B02"/>
              </a:buClr>
            </a:pPr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5A1844-5CB8-438B-B90E-EF2A51CF8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6586695" y="1"/>
            <a:ext cx="560530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7B1AC2-7F5B-4FB4-1743-16DEF9C18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386" y="4482918"/>
            <a:ext cx="5632614" cy="2116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1174F5-9491-F5D4-5437-0E796DF4AE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695" y="819408"/>
            <a:ext cx="5605305" cy="201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679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790BB-4BFB-2A53-3407-4DEA68260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607C4D-1878-4A10-5887-30AEFDF25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anchor="ctr">
            <a:normAutofit/>
          </a:bodyPr>
          <a:lstStyle/>
          <a:p>
            <a:pPr algn="l"/>
            <a:r>
              <a:rPr lang="en-IN" sz="4800" dirty="0"/>
              <a:t>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E127C-4CE9-22CB-91AA-FDC43445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8769" y="1118809"/>
            <a:ext cx="5049763" cy="4747681"/>
          </a:xfrm>
          <a:effectLst/>
        </p:spPr>
        <p:txBody>
          <a:bodyPr anchor="ctr">
            <a:normAutofit/>
          </a:bodyPr>
          <a:lstStyle/>
          <a:p>
            <a:pPr marL="36900" indent="0">
              <a:lnSpc>
                <a:spcPct val="9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Current Outcome</a:t>
            </a:r>
          </a:p>
          <a:p>
            <a:pPr marL="36900" indent="0">
              <a:lnSpc>
                <a:spcPct val="90000"/>
              </a:lnSpc>
              <a:buNone/>
            </a:pPr>
            <a:endParaRPr lang="en-US" sz="1700" b="1" dirty="0">
              <a:solidFill>
                <a:schemeClr val="tx1"/>
              </a:solidFill>
            </a:endParaRPr>
          </a:p>
          <a:p>
            <a:pPr marL="36900" indent="0">
              <a:lnSpc>
                <a:spcPct val="90000"/>
              </a:lnSpc>
              <a:buNone/>
            </a:pPr>
            <a:endParaRPr lang="en-US" sz="1700" b="1" dirty="0">
              <a:solidFill>
                <a:schemeClr val="tx1"/>
              </a:solidFill>
            </a:endParaRPr>
          </a:p>
          <a:p>
            <a:pPr marL="36900" indent="0">
              <a:lnSpc>
                <a:spcPct val="90000"/>
              </a:lnSpc>
              <a:buNone/>
            </a:pPr>
            <a:endParaRPr lang="en-US" sz="1700" b="1" dirty="0">
              <a:solidFill>
                <a:schemeClr val="tx1"/>
              </a:solidFill>
            </a:endParaRPr>
          </a:p>
          <a:p>
            <a:pPr marL="36900" indent="0">
              <a:lnSpc>
                <a:spcPct val="90000"/>
              </a:lnSpc>
              <a:buNone/>
            </a:pPr>
            <a:endParaRPr lang="en-US" sz="1700" b="1" dirty="0">
              <a:solidFill>
                <a:schemeClr val="tx1"/>
              </a:solidFill>
            </a:endParaRPr>
          </a:p>
          <a:p>
            <a:pPr marL="36900" indent="0">
              <a:lnSpc>
                <a:spcPct val="90000"/>
              </a:lnSpc>
              <a:buNone/>
            </a:pPr>
            <a:endParaRPr lang="en-US" sz="1700" b="1" dirty="0">
              <a:solidFill>
                <a:schemeClr val="tx1"/>
              </a:solidFill>
            </a:endParaRPr>
          </a:p>
          <a:p>
            <a:pPr marL="36900" indent="0">
              <a:lnSpc>
                <a:spcPct val="90000"/>
              </a:lnSpc>
              <a:buNone/>
            </a:pPr>
            <a:endParaRPr lang="en-US" sz="1700" dirty="0">
              <a:solidFill>
                <a:schemeClr val="tx1"/>
              </a:solidFill>
            </a:endParaRPr>
          </a:p>
          <a:p>
            <a:pPr marL="36900" indent="0">
              <a:lnSpc>
                <a:spcPct val="90000"/>
              </a:lnSpc>
              <a:buNone/>
            </a:pPr>
            <a:r>
              <a:rPr lang="en-US" b="1" dirty="0">
                <a:solidFill>
                  <a:schemeClr val="accent1"/>
                </a:solidFill>
              </a:rPr>
              <a:t>Future Outcome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Video-based deepfake detection</a:t>
            </a:r>
          </a:p>
          <a:p>
            <a:pPr>
              <a:lnSpc>
                <a:spcPct val="90000"/>
              </a:lnSpc>
            </a:pPr>
            <a:r>
              <a:rPr lang="en-IN" sz="1800" dirty="0"/>
              <a:t>Add Grad-CAM explainability</a:t>
            </a:r>
            <a:endParaRPr lang="en-US" sz="17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1800" dirty="0"/>
              <a:t>Webcam real-time detection</a:t>
            </a:r>
            <a:endParaRPr lang="en-US" sz="1700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03115C-0CED-3983-37AC-F0F5B6987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769" y="1554149"/>
            <a:ext cx="530279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Developed a complete deepfake detection system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93.575%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AUC = 0.982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Built real-time prediction pipeline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Successfully deployed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Gradio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 (Body)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7010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E048-CFC3-CED6-72C9-2BEAED70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E56ED9-2AE0-9A47-B2C5-FE6A2F38CE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1386" y="2080829"/>
            <a:ext cx="797502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CNN + Transfer Learning improves performance significantly.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Ensemble approach increases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accurate, efficient, and deployable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Practical solution for real-world deepfake detection. </a:t>
            </a:r>
          </a:p>
        </p:txBody>
      </p:sp>
    </p:spTree>
    <p:extLst>
      <p:ext uri="{BB962C8B-B14F-4D97-AF65-F5344CB8AC3E}">
        <p14:creationId xmlns:p14="http://schemas.microsoft.com/office/powerpoint/2010/main" val="666912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EE7F3-3FA6-2C72-16B3-E9B46E2A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C224410-FF86-4FBB-A05E-61232D4B1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3BDD110-869E-4A8C-9250-C7AE5C840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2" y="-2"/>
            <a:ext cx="6088698" cy="6858002"/>
          </a:xfrm>
          <a:custGeom>
            <a:avLst/>
            <a:gdLst>
              <a:gd name="connsiteX0" fmla="*/ 0 w 6088698"/>
              <a:gd name="connsiteY0" fmla="*/ 0 h 6858002"/>
              <a:gd name="connsiteX1" fmla="*/ 2610464 w 6088698"/>
              <a:gd name="connsiteY1" fmla="*/ 0 h 6858002"/>
              <a:gd name="connsiteX2" fmla="*/ 2610464 w 6088698"/>
              <a:gd name="connsiteY2" fmla="*/ 3 h 6858002"/>
              <a:gd name="connsiteX3" fmla="*/ 5749313 w 6088698"/>
              <a:gd name="connsiteY3" fmla="*/ 3 h 6858002"/>
              <a:gd name="connsiteX4" fmla="*/ 5749313 w 6088698"/>
              <a:gd name="connsiteY4" fmla="*/ 4 h 6858002"/>
              <a:gd name="connsiteX5" fmla="*/ 5740011 w 6088698"/>
              <a:gd name="connsiteY5" fmla="*/ 4 h 6858002"/>
              <a:gd name="connsiteX6" fmla="*/ 5748114 w 6088698"/>
              <a:gd name="connsiteY6" fmla="*/ 40466 h 6858002"/>
              <a:gd name="connsiteX7" fmla="*/ 5771963 w 6088698"/>
              <a:gd name="connsiteY7" fmla="*/ 159110 h 6858002"/>
              <a:gd name="connsiteX8" fmla="*/ 5788633 w 6088698"/>
              <a:gd name="connsiteY8" fmla="*/ 245521 h 6858002"/>
              <a:gd name="connsiteX9" fmla="*/ 5806229 w 6088698"/>
              <a:gd name="connsiteY9" fmla="*/ 348391 h 6858002"/>
              <a:gd name="connsiteX10" fmla="*/ 5827299 w 6088698"/>
              <a:gd name="connsiteY10" fmla="*/ 470463 h 6858002"/>
              <a:gd name="connsiteX11" fmla="*/ 5849526 w 6088698"/>
              <a:gd name="connsiteY11" fmla="*/ 605566 h 6858002"/>
              <a:gd name="connsiteX12" fmla="*/ 5872911 w 6088698"/>
              <a:gd name="connsiteY12" fmla="*/ 757813 h 6858002"/>
              <a:gd name="connsiteX13" fmla="*/ 5897684 w 6088698"/>
              <a:gd name="connsiteY13" fmla="*/ 923777 h 6858002"/>
              <a:gd name="connsiteX14" fmla="*/ 5922459 w 6088698"/>
              <a:gd name="connsiteY14" fmla="*/ 1104142 h 6858002"/>
              <a:gd name="connsiteX15" fmla="*/ 5947695 w 6088698"/>
              <a:gd name="connsiteY15" fmla="*/ 1296166 h 6858002"/>
              <a:gd name="connsiteX16" fmla="*/ 5971079 w 6088698"/>
              <a:gd name="connsiteY16" fmla="*/ 1503278 h 6858002"/>
              <a:gd name="connsiteX17" fmla="*/ 5993538 w 6088698"/>
              <a:gd name="connsiteY17" fmla="*/ 1719991 h 6858002"/>
              <a:gd name="connsiteX18" fmla="*/ 6013913 w 6088698"/>
              <a:gd name="connsiteY18" fmla="*/ 1949048 h 6858002"/>
              <a:gd name="connsiteX19" fmla="*/ 6033361 w 6088698"/>
              <a:gd name="connsiteY19" fmla="*/ 2187706 h 6858002"/>
              <a:gd name="connsiteX20" fmla="*/ 6051654 w 6088698"/>
              <a:gd name="connsiteY20" fmla="*/ 2436652 h 6858002"/>
              <a:gd name="connsiteX21" fmla="*/ 6058136 w 6088698"/>
              <a:gd name="connsiteY21" fmla="*/ 2564211 h 6858002"/>
              <a:gd name="connsiteX22" fmla="*/ 6065314 w 6088698"/>
              <a:gd name="connsiteY22" fmla="*/ 2694512 h 6858002"/>
              <a:gd name="connsiteX23" fmla="*/ 6072027 w 6088698"/>
              <a:gd name="connsiteY23" fmla="*/ 2826871 h 6858002"/>
              <a:gd name="connsiteX24" fmla="*/ 6076427 w 6088698"/>
              <a:gd name="connsiteY24" fmla="*/ 2959917 h 6858002"/>
              <a:gd name="connsiteX25" fmla="*/ 6080363 w 6088698"/>
              <a:gd name="connsiteY25" fmla="*/ 3095705 h 6858002"/>
              <a:gd name="connsiteX26" fmla="*/ 6084530 w 6088698"/>
              <a:gd name="connsiteY26" fmla="*/ 3232865 h 6858002"/>
              <a:gd name="connsiteX27" fmla="*/ 6087308 w 6088698"/>
              <a:gd name="connsiteY27" fmla="*/ 3372768 h 6858002"/>
              <a:gd name="connsiteX28" fmla="*/ 6087308 w 6088698"/>
              <a:gd name="connsiteY28" fmla="*/ 3514043 h 6858002"/>
              <a:gd name="connsiteX29" fmla="*/ 6088698 w 6088698"/>
              <a:gd name="connsiteY29" fmla="*/ 3656689 h 6858002"/>
              <a:gd name="connsiteX30" fmla="*/ 6087308 w 6088698"/>
              <a:gd name="connsiteY30" fmla="*/ 3800707 h 6858002"/>
              <a:gd name="connsiteX31" fmla="*/ 6084530 w 6088698"/>
              <a:gd name="connsiteY31" fmla="*/ 3946783 h 6858002"/>
              <a:gd name="connsiteX32" fmla="*/ 6081983 w 6088698"/>
              <a:gd name="connsiteY32" fmla="*/ 4092858 h 6858002"/>
              <a:gd name="connsiteX33" fmla="*/ 6076427 w 6088698"/>
              <a:gd name="connsiteY33" fmla="*/ 4240991 h 6858002"/>
              <a:gd name="connsiteX34" fmla="*/ 6070639 w 6088698"/>
              <a:gd name="connsiteY34" fmla="*/ 4390495 h 6858002"/>
              <a:gd name="connsiteX35" fmla="*/ 6063924 w 6088698"/>
              <a:gd name="connsiteY35" fmla="*/ 4540000 h 6858002"/>
              <a:gd name="connsiteX36" fmla="*/ 6054432 w 6088698"/>
              <a:gd name="connsiteY36" fmla="*/ 4690876 h 6858002"/>
              <a:gd name="connsiteX37" fmla="*/ 6043086 w 6088698"/>
              <a:gd name="connsiteY37" fmla="*/ 4843123 h 6858002"/>
              <a:gd name="connsiteX38" fmla="*/ 6032204 w 6088698"/>
              <a:gd name="connsiteY38" fmla="*/ 4996057 h 6858002"/>
              <a:gd name="connsiteX39" fmla="*/ 6018313 w 6088698"/>
              <a:gd name="connsiteY39" fmla="*/ 5148990 h 6858002"/>
              <a:gd name="connsiteX40" fmla="*/ 6001642 w 6088698"/>
              <a:gd name="connsiteY40" fmla="*/ 5303981 h 6858002"/>
              <a:gd name="connsiteX41" fmla="*/ 5984972 w 6088698"/>
              <a:gd name="connsiteY41" fmla="*/ 5456914 h 6858002"/>
              <a:gd name="connsiteX42" fmla="*/ 5965754 w 6088698"/>
              <a:gd name="connsiteY42" fmla="*/ 5612591 h 6858002"/>
              <a:gd name="connsiteX43" fmla="*/ 5944685 w 6088698"/>
              <a:gd name="connsiteY43" fmla="*/ 5768953 h 6858002"/>
              <a:gd name="connsiteX44" fmla="*/ 5922459 w 6088698"/>
              <a:gd name="connsiteY44" fmla="*/ 5923258 h 6858002"/>
              <a:gd name="connsiteX45" fmla="*/ 5896527 w 6088698"/>
              <a:gd name="connsiteY45" fmla="*/ 6079621 h 6858002"/>
              <a:gd name="connsiteX46" fmla="*/ 5868743 w 6088698"/>
              <a:gd name="connsiteY46" fmla="*/ 6235297 h 6858002"/>
              <a:gd name="connsiteX47" fmla="*/ 5841190 w 6088698"/>
              <a:gd name="connsiteY47" fmla="*/ 6391660 h 6858002"/>
              <a:gd name="connsiteX48" fmla="*/ 5809008 w 6088698"/>
              <a:gd name="connsiteY48" fmla="*/ 6547336 h 6858002"/>
              <a:gd name="connsiteX49" fmla="*/ 5776130 w 6088698"/>
              <a:gd name="connsiteY49" fmla="*/ 6702327 h 6858002"/>
              <a:gd name="connsiteX50" fmla="*/ 5741633 w 6088698"/>
              <a:gd name="connsiteY50" fmla="*/ 6858002 h 6858002"/>
              <a:gd name="connsiteX51" fmla="*/ 2610464 w 6088698"/>
              <a:gd name="connsiteY51" fmla="*/ 6858002 h 6858002"/>
              <a:gd name="connsiteX52" fmla="*/ 0 w 6088698"/>
              <a:gd name="connsiteY52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088698" h="6858002">
                <a:moveTo>
                  <a:pt x="0" y="0"/>
                </a:moveTo>
                <a:lnTo>
                  <a:pt x="2610464" y="0"/>
                </a:lnTo>
                <a:lnTo>
                  <a:pt x="2610464" y="3"/>
                </a:lnTo>
                <a:lnTo>
                  <a:pt x="5749313" y="3"/>
                </a:lnTo>
                <a:lnTo>
                  <a:pt x="5749313" y="4"/>
                </a:lnTo>
                <a:lnTo>
                  <a:pt x="5740011" y="4"/>
                </a:lnTo>
                <a:lnTo>
                  <a:pt x="5748114" y="40466"/>
                </a:lnTo>
                <a:lnTo>
                  <a:pt x="5771963" y="159110"/>
                </a:lnTo>
                <a:lnTo>
                  <a:pt x="5788633" y="245521"/>
                </a:lnTo>
                <a:lnTo>
                  <a:pt x="5806229" y="348391"/>
                </a:lnTo>
                <a:lnTo>
                  <a:pt x="5827299" y="470463"/>
                </a:lnTo>
                <a:lnTo>
                  <a:pt x="5849526" y="605566"/>
                </a:lnTo>
                <a:lnTo>
                  <a:pt x="5872911" y="757813"/>
                </a:lnTo>
                <a:lnTo>
                  <a:pt x="5897684" y="923777"/>
                </a:lnTo>
                <a:lnTo>
                  <a:pt x="5922459" y="1104142"/>
                </a:lnTo>
                <a:lnTo>
                  <a:pt x="5947695" y="1296166"/>
                </a:lnTo>
                <a:lnTo>
                  <a:pt x="5971079" y="1503278"/>
                </a:lnTo>
                <a:lnTo>
                  <a:pt x="5993538" y="1719991"/>
                </a:lnTo>
                <a:lnTo>
                  <a:pt x="6013913" y="1949048"/>
                </a:lnTo>
                <a:lnTo>
                  <a:pt x="6033361" y="2187706"/>
                </a:lnTo>
                <a:lnTo>
                  <a:pt x="6051654" y="2436652"/>
                </a:lnTo>
                <a:lnTo>
                  <a:pt x="6058136" y="2564211"/>
                </a:lnTo>
                <a:lnTo>
                  <a:pt x="6065314" y="2694512"/>
                </a:lnTo>
                <a:lnTo>
                  <a:pt x="6072027" y="2826871"/>
                </a:lnTo>
                <a:lnTo>
                  <a:pt x="6076427" y="2959917"/>
                </a:lnTo>
                <a:lnTo>
                  <a:pt x="6080363" y="3095705"/>
                </a:lnTo>
                <a:lnTo>
                  <a:pt x="6084530" y="3232865"/>
                </a:lnTo>
                <a:lnTo>
                  <a:pt x="6087308" y="3372768"/>
                </a:lnTo>
                <a:lnTo>
                  <a:pt x="6087308" y="3514043"/>
                </a:lnTo>
                <a:lnTo>
                  <a:pt x="6088698" y="3656689"/>
                </a:lnTo>
                <a:lnTo>
                  <a:pt x="6087308" y="3800707"/>
                </a:lnTo>
                <a:lnTo>
                  <a:pt x="6084530" y="3946783"/>
                </a:lnTo>
                <a:lnTo>
                  <a:pt x="6081983" y="4092858"/>
                </a:lnTo>
                <a:lnTo>
                  <a:pt x="6076427" y="4240991"/>
                </a:lnTo>
                <a:lnTo>
                  <a:pt x="6070639" y="4390495"/>
                </a:lnTo>
                <a:lnTo>
                  <a:pt x="6063924" y="4540000"/>
                </a:lnTo>
                <a:lnTo>
                  <a:pt x="6054432" y="4690876"/>
                </a:lnTo>
                <a:lnTo>
                  <a:pt x="6043086" y="4843123"/>
                </a:lnTo>
                <a:lnTo>
                  <a:pt x="6032204" y="4996057"/>
                </a:lnTo>
                <a:lnTo>
                  <a:pt x="6018313" y="5148990"/>
                </a:lnTo>
                <a:lnTo>
                  <a:pt x="6001642" y="5303981"/>
                </a:lnTo>
                <a:lnTo>
                  <a:pt x="5984972" y="5456914"/>
                </a:lnTo>
                <a:lnTo>
                  <a:pt x="5965754" y="5612591"/>
                </a:lnTo>
                <a:lnTo>
                  <a:pt x="5944685" y="5768953"/>
                </a:lnTo>
                <a:lnTo>
                  <a:pt x="5922459" y="5923258"/>
                </a:lnTo>
                <a:lnTo>
                  <a:pt x="5896527" y="6079621"/>
                </a:lnTo>
                <a:lnTo>
                  <a:pt x="5868743" y="6235297"/>
                </a:lnTo>
                <a:lnTo>
                  <a:pt x="5841190" y="6391660"/>
                </a:lnTo>
                <a:lnTo>
                  <a:pt x="5809008" y="6547336"/>
                </a:lnTo>
                <a:lnTo>
                  <a:pt x="5776130" y="6702327"/>
                </a:lnTo>
                <a:lnTo>
                  <a:pt x="5741633" y="6858002"/>
                </a:lnTo>
                <a:lnTo>
                  <a:pt x="2610464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D6D14-4375-C2C6-EB8A-B2748764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06" y="1118808"/>
            <a:ext cx="4671467" cy="4747683"/>
          </a:xfrm>
        </p:spPr>
        <p:txBody>
          <a:bodyPr anchor="ctr">
            <a:normAutofit/>
          </a:bodyPr>
          <a:lstStyle/>
          <a:p>
            <a:pPr algn="l"/>
            <a:r>
              <a:rPr lang="en-IN" sz="48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6E4AD-7359-BEEA-DD28-D2368C8C1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1548" y="4603163"/>
            <a:ext cx="5721890" cy="961336"/>
          </a:xfrm>
          <a:effectLst/>
        </p:spPr>
        <p:txBody>
          <a:bodyPr anchor="ctr"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Kaggle. (2020). 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140K Real and Fake Faces Dataset.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Retrieved from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https://www.kaggle.com/datasets/xhlulu/140k-real-and-fake-faces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D85ADF-A296-CC58-F496-A3C56F9EC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1548" y="617165"/>
            <a:ext cx="602490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Tolosana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Deepfakes and Beyond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Liu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Spatiotemporal CNN for Deepfake Detection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Chen et al.,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Frequency Domain Deepfake Detection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Khalid &amp; Woo,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OC-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FakeDect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Abdelali et al.,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DeepFakeHunter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140K Real &amp; Fake Faces Dataset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&amp; OpenCV </a:t>
            </a:r>
          </a:p>
        </p:txBody>
      </p:sp>
    </p:spTree>
    <p:extLst>
      <p:ext uri="{BB962C8B-B14F-4D97-AF65-F5344CB8AC3E}">
        <p14:creationId xmlns:p14="http://schemas.microsoft.com/office/powerpoint/2010/main" val="107211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4262" y="28470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461</TotalTime>
  <Words>1157</Words>
  <Application>Microsoft Office PowerPoint</Application>
  <PresentationFormat>Widescreen</PresentationFormat>
  <Paragraphs>192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Calisto MT</vt:lpstr>
      <vt:lpstr>Calisto MT (Body)</vt:lpstr>
      <vt:lpstr>Courier New</vt:lpstr>
      <vt:lpstr>Wingdings</vt:lpstr>
      <vt:lpstr>Wingdings 2</vt:lpstr>
      <vt:lpstr>Slate</vt:lpstr>
      <vt:lpstr>PowerPoint Presentation</vt:lpstr>
      <vt:lpstr>Outline</vt:lpstr>
      <vt:lpstr>Introduction</vt:lpstr>
      <vt:lpstr>Introduction </vt:lpstr>
      <vt:lpstr>Introduction </vt:lpstr>
      <vt:lpstr>Literature Review</vt:lpstr>
      <vt:lpstr>Literature Review</vt:lpstr>
      <vt:lpstr>Literature Review (Research Gap)</vt:lpstr>
      <vt:lpstr>Problem Statement</vt:lpstr>
      <vt:lpstr>Objectives</vt:lpstr>
      <vt:lpstr>Dataset Description</vt:lpstr>
      <vt:lpstr>Proposed Methodology</vt:lpstr>
      <vt:lpstr>Model Architecture</vt:lpstr>
      <vt:lpstr>Training Procedure </vt:lpstr>
      <vt:lpstr>Testing Procedure</vt:lpstr>
      <vt:lpstr>Results (Confusion Matrix) of the Ensemble Model</vt:lpstr>
      <vt:lpstr>Results (ROC Curve), Precision &amp; F1-Score</vt:lpstr>
      <vt:lpstr>Sample Predictions (Original Model)</vt:lpstr>
      <vt:lpstr>Sample Predictions (Ensemble Model)</vt:lpstr>
      <vt:lpstr>Deployment</vt:lpstr>
      <vt:lpstr>Outcome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Vidur Gupta</cp:lastModifiedBy>
  <cp:revision>24</cp:revision>
  <dcterms:created xsi:type="dcterms:W3CDTF">2025-09-29T05:03:41Z</dcterms:created>
  <dcterms:modified xsi:type="dcterms:W3CDTF">2026-08-18T19:48:11Z</dcterms:modified>
</cp:coreProperties>
</file>